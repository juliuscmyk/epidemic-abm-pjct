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ecac6b23c4402e" /><Relationship Type="http://schemas.openxmlformats.org/officeDocument/2006/relationships/extended-properties" Target="/docProps/app.xml" Id="R1af4b68e29be4455" /><Relationship Type="http://schemas.openxmlformats.org/officeDocument/2006/relationships/officeDocument" Target="/ppt/presentation.xml" Id="Ra3b6a859f8354f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5e72efd4c4c16"/>
  </p:sldMasterIdLst>
  <p:notesMasterIdLst>
    <p:notesMasterId xmlns:r="http://schemas.openxmlformats.org/officeDocument/2006/relationships" r:id="R2f2e4955e4634856"/>
  </p:notesMasterIdLst>
  <p:sldIdLst>
    <p:sldId xmlns:r="http://schemas.openxmlformats.org/officeDocument/2006/relationships" id="256" r:id="R2c0a30b918614ef5"/>
    <p:sldId xmlns:r="http://schemas.openxmlformats.org/officeDocument/2006/relationships" id="257" r:id="R83019fe967b74424"/>
    <p:sldId xmlns:r="http://schemas.openxmlformats.org/officeDocument/2006/relationships" id="258" r:id="R41f31c10983545be"/>
    <p:sldId xmlns:r="http://schemas.openxmlformats.org/officeDocument/2006/relationships" id="259" r:id="Rc686220be62a426d"/>
    <p:sldId xmlns:r="http://schemas.openxmlformats.org/officeDocument/2006/relationships" id="260" r:id="R1e00322e43f04328"/>
    <p:sldId xmlns:r="http://schemas.openxmlformats.org/officeDocument/2006/relationships" id="261" r:id="Re790e3da5d0b43b3"/>
    <p:sldId xmlns:r="http://schemas.openxmlformats.org/officeDocument/2006/relationships" id="262" r:id="Rca64530d6d1444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5e72efd4c4c16" /><Relationship Type="http://schemas.openxmlformats.org/officeDocument/2006/relationships/theme" Target="/ppt/theme/theme1.xml" Id="Raf9a280f00ca42b8" /><Relationship Type="http://schemas.openxmlformats.org/officeDocument/2006/relationships/notesMaster" Target="/ppt/notesMasters/notesMaster1.xml" Id="R2f2e4955e4634856" /><Relationship Type="http://schemas.openxmlformats.org/officeDocument/2006/relationships/presProps" Target="/ppt/presProps.xml" Id="R05fd089b394e4ef2" /><Relationship Type="http://schemas.openxmlformats.org/officeDocument/2006/relationships/viewProps" Target="/ppt/viewProps.xml" Id="R4e4a532a16e545fd" /><Relationship Type="http://schemas.openxmlformats.org/officeDocument/2006/relationships/tableStyles" Target="/ppt/tableStyles.xml" Id="Rcca80500ecac4831" /><Relationship Type="http://schemas.openxmlformats.org/officeDocument/2006/relationships/slide" Target="/ppt/slides/slide1.xml" Id="R2c0a30b918614ef5" /><Relationship Type="http://schemas.openxmlformats.org/officeDocument/2006/relationships/slide" Target="/ppt/slides/slide2.xml" Id="R83019fe967b74424" /><Relationship Type="http://schemas.openxmlformats.org/officeDocument/2006/relationships/slide" Target="/ppt/slides/slide3.xml" Id="R41f31c10983545be" /><Relationship Type="http://schemas.openxmlformats.org/officeDocument/2006/relationships/slide" Target="/ppt/slides/slide4.xml" Id="Rc686220be62a426d" /><Relationship Type="http://schemas.openxmlformats.org/officeDocument/2006/relationships/slide" Target="/ppt/slides/slide5.xml" Id="R1e00322e43f04328" /><Relationship Type="http://schemas.openxmlformats.org/officeDocument/2006/relationships/slide" Target="/ppt/slides/slide6.xml" Id="Re790e3da5d0b43b3" /><Relationship Type="http://schemas.openxmlformats.org/officeDocument/2006/relationships/slide" Target="/ppt/slides/slide7.xml" Id="Rca64530d6d1444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d88c5d01c93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37a7c59ac4d7b" /><Relationship Type="http://schemas.openxmlformats.org/officeDocument/2006/relationships/notesMaster" Target="/ppt/notesMasters/notesMaster1.xml" Id="R306e640a50a5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87b00dda0741cb" /><Relationship Type="http://schemas.openxmlformats.org/officeDocument/2006/relationships/notesMaster" Target="/ppt/notesMasters/notesMaster1.xml" Id="Rae83bc7562d44c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ac2b1839049c6" /><Relationship Type="http://schemas.openxmlformats.org/officeDocument/2006/relationships/notesMaster" Target="/ppt/notesMasters/notesMaster1.xml" Id="R3ced31fcd2b44b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0c41121564521" /><Relationship Type="http://schemas.openxmlformats.org/officeDocument/2006/relationships/notesMaster" Target="/ppt/notesMasters/notesMaster1.xml" Id="R540684cdc2c74c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e4b841b4d14b8a" /><Relationship Type="http://schemas.openxmlformats.org/officeDocument/2006/relationships/notesMaster" Target="/ppt/notesMasters/notesMaster1.xml" Id="Rf43d362eda04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983554c9046da" /><Relationship Type="http://schemas.openxmlformats.org/officeDocument/2006/relationships/notesMaster" Target="/ppt/notesMasters/notesMaster1.xml" Id="Rf4ad17c9ca9743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d4ca1fc8404745" /><Relationship Type="http://schemas.openxmlformats.org/officeDocument/2006/relationships/notesMaster" Target="/ppt/notesMasters/notesMaster1.xml" Id="Re8c7c9aa66b045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78c294d0348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173a6f145a48fa" /><Relationship Type="http://schemas.openxmlformats.org/officeDocument/2006/relationships/slideLayout" Target="/ppt/slideLayouts/slideLayout2.xml" Id="R3f6d6972d5d149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6d6972d5d149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0023771ed64430" /><Relationship Type="http://schemas.openxmlformats.org/officeDocument/2006/relationships/notesSlide" Target="/ppt/notesSlides/notesSlide1.xml" Id="Rb32911b8014a42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3e0a91bf24b9c" /><Relationship Type="http://schemas.openxmlformats.org/officeDocument/2006/relationships/notesSlide" Target="/ppt/notesSlides/notesSlide2.xml" Id="Rdcfe8dc16024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e2aded74f4d01" /><Relationship Type="http://schemas.openxmlformats.org/officeDocument/2006/relationships/notesSlide" Target="/ppt/notesSlides/notesSlide3.xml" Id="Ref5ab9292fac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598739e1944ef4" /><Relationship Type="http://schemas.openxmlformats.org/officeDocument/2006/relationships/notesSlide" Target="/ppt/notesSlides/notesSlide4.xml" Id="R5b2de1f8f4c6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0754485cd4041" /><Relationship Type="http://schemas.openxmlformats.org/officeDocument/2006/relationships/notesSlide" Target="/ppt/notesSlides/notesSlide5.xml" Id="R8645a4042d1d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8b42fee4d34db8" /><Relationship Type="http://schemas.openxmlformats.org/officeDocument/2006/relationships/notesSlide" Target="/ppt/notesSlides/notesSlide6.xml" Id="Ra76f8c4270f045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609dedc59e4d4b" /><Relationship Type="http://schemas.openxmlformats.org/officeDocument/2006/relationships/notesSlide" Target="/ppt/notesSlides/notesSlide7.xml" Id="R8fb68d5c39aa44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997AD-1096-42D6-8C02-0A493DC4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F474F-84CD-41BE-8218-659247D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7DB34-1C57-4056-8D7A-1E537840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PROJECT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A847B-03FD-4FC7-BEFD-0FF9808D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86CB3-485E-43A7-B1EC-ED36A75D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704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Epidemic Spread</a:t>
            </a:r>
          </a:p>
          <a:p xmlns:a="http://schemas.openxmlformats.org/drawingml/2006/main">
            <a:pPr algn="l">
              <a:defRPr sz="43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with Distancing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28944-784F-4DE9-AB1C-468EC7C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 grid-based agent model for contact, recovery, and emergent infection curves.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23054-2C23-4749-A9B0-E4C7CF5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D2C21-1E64-4794-A8F2-E92B01D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Agent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E1FC7-49CA-40B2-872B-2D63659A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38550"/>
            <a:ext cx="156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23DF8-3BB2-4035-9BD9-773F48F0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052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0C5E9-F32B-4203-9B33-A62238B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466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6F3B2-6F62-4864-9215-106C81C3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0522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HTML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03252-3D09-4294-B973-2CAB9D41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EDF87-B72C-4717-B5F0-0541CDD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F8ABC-CBF6-468B-93AB-D63FAC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54790-C300-445D-98C6-CDBE8608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person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AB764-75AC-4E91-BBA6-2BDBB11D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90300-4211-4D1B-8009-9B0A5C5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85C5-6425-4CBC-BD6F-3FBC9C2D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05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D5498-8708-4DDD-9356-30416131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911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scenarios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BFD52-F8EC-4DAB-B843-823A5D8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767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B7738-1E3C-4599-88C2-453B10F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767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AC58B-1876-46EE-8460-9E9E23C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053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6x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08155-6DC7-4D4E-8D8A-996C9ED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911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seeded repeats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DBA25-4135-4F10-8994-BD04DD4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914400"/>
            <a:ext cx="3162300" cy="52197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53266-6977-4188-A03F-51536494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66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F6C10-858B-4C23-A9EC-CADC66F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2A7CA-525F-453A-9439-8D6D8B6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66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EEAAC3-5837-4C3C-86C4-F6A28B9D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66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EFE2F-5C0D-4483-A654-6604DA05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466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B9F6D0-EBDF-4AD9-8117-2C058078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10C1F4-B2B3-4044-9C3E-E36A2CAA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075F-B21D-4F0D-8205-C9D19315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D23D8B-86CC-4A12-82B5-CF814484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DA084D-5196-4F26-801A-D09CC5AD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0882D6-7C83-4453-9E82-07C2C10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4163AC-6FE1-45F7-984A-042127D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348D2-5973-4D13-B888-1B52C54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B3C4CC-F819-42C2-82F5-3C7B7CA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4AE2B9-DF5B-4B28-ABF5-B5AF7A8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43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376D52-2E1A-483A-8D82-5AE1697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BA44EB-D9FE-4E3C-8ED8-853DF09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929A9-1B65-4133-BFC6-C657CBB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36DB2-6EF4-42EC-A9C9-AE8DE9A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2422C7-8550-41B9-97BD-6398CD5E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81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757E5A-4588-4D2D-BB1B-F4293338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26E7F3-984C-46BD-9826-B3170F3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C5523E-4416-47DF-9C40-CF761865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8B52B9-314C-41CF-845B-A19C8C3E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31EDE3-7F37-45D5-9727-67C9AB85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ED03BE-4378-47F9-A9DD-AC062FB2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A62601-1E68-4A45-961A-200138F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2BC628-F9FA-4F87-A395-D952462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45AE9E-B757-4EFD-B0DA-941ACE42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698D7C-4F96-403D-A835-90F5601A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9A4F8C-4958-482D-871A-53C27B3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12918D-7E18-4F55-8B0F-F34263A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5382C2-FE4B-4187-99FB-4C9C5BD0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51DF5F-8D9C-4D28-B127-7DBCE876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EF156C-7F49-4100-9E81-D356C038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84E324-DA27-4104-984C-A7177269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B1900E-0963-4D20-B4E3-A8C007A6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A21472-4A6F-4926-A03A-6157769B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66FA3D-E02F-4CC7-A803-56385E3F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515BC2-D5BF-4933-9F67-4DDB1125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AB7078-FF89-4C9B-882C-60A54396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50F81E-A96C-4F61-9516-6DEECABA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DB137B-429E-4BFC-ADE9-C585DAD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28E93F-EF4E-482F-A737-19BF16F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426C98-D6E3-4023-A88E-75DFD2A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72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F09E3F-E8F1-43E0-8841-E0661795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14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Local contacts</a:t>
            </a:r>
          </a:p>
          <a:p xmlns:a="http://schemas.openxmlformats.org/drawingml/2006/main">
            <a:pPr algn="ctr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become a population curve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6C25F45-85FB-4C51-8779-7BA33381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055380-2CAE-45EE-A1A3-FC4BD47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3738072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928D9-9F6A-456C-BD5B-EDB404F7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5229E-9E7C-44C9-B895-94B2CA9D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56126-6157-4A11-AC56-E22FCDC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A7D7F-0EB9-4987-ACD9-C0E2D18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B2AFA-49A6-46A2-92FA-EFCBA3B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Why use ABM for this problem?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E7EFE-C888-4AB2-A1A8-73112AE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Spread depends on who meets whom, not only on an average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18462-D113-42A6-8417-9B5D48F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CFC5-7FE1-4F1D-96A9-765B6038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Each person makes a movement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48722-1C17-4B73-8B26-50A55E9B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9551C-9A40-454A-A3D0-C49AD874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Contact happens locally inside grid cells.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9FA9B-B07A-4B14-8621-A45077AC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780C-CCCE-44ED-856E-D1E46039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Population curves emerge after many encounters.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7F267-1EDE-49F8-93A7-1C47688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1524000" cy="21526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A75B4-EDE3-4188-93C7-BDF4F58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73688-3FD8-462F-96F8-0975F4D7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E0319-AF5E-4620-85F0-B900E75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14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move</a:t>
            </a:r>
          </a:p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isolate</a:t>
            </a:r>
          </a:p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016BF-AC19-41D5-8D2B-E8AAF2D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524000" cy="21526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8D8D7-AC3F-4EC8-A20C-9340C09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CE892-A2BA-4B9D-8950-53C1CCF9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Contacts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6BA45-53E5-4AC2-A57C-245028F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14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share cell</a:t>
            </a:r>
          </a:p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risk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07C74-ECFF-451D-820A-5F6304E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524000" cy="21526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C923B-5C6F-4681-ACE9-AF810AB3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7F100-835C-4FCE-A951-124D0141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1B39F-5830-4E80-B787-0906504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114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peak</a:t>
            </a:r>
          </a:p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attack rate</a:t>
            </a:r>
          </a:p>
          <a:p xmlns:a="http://schemas.openxmlformats.org/drawingml/2006/main">
            <a:pPr algn="ctr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curve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14A80-79DA-4689-8A6E-99D2C66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86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A14BF-8C2F-4A54-9C54-D508E78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861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05092-5D5F-45AB-909F-B89987BD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73D23-0716-45D3-83DF-0E08FCF4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149256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5BFFF-EE5A-41F9-8187-DB359B0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EC50C-63AF-4068-8C61-0A4D982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BED33-7792-4300-9D67-5CE74265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4A109-8B62-4C3E-8E89-09DACC49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CE435-728E-4019-A6B0-18CD316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Mesa agents. Three health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3334A-C987-43CC-9BBA-5FD33DC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 Mesa MultiGrid creates contact opportunities.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1E51E-7E27-4FD5-9008-7F029F5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619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8994E-5D0A-436C-B0EF-04052C4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Mesa PersonAgent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629AA-8A06-47D3-875D-BF0F4B8B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314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7A641-A894-44CA-9596-8298D96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96A9C-8CA9-4CC6-AE4D-0196C47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57051-5170-4AC5-8C6D-4B9AEB6A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385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health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E229A-B675-4BBE-92A2-45579E5D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93C64-5B35-48E2-B49D-A3782E66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infection timer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F05B9-E043-4A46-A114-87E5655F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8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6925E-587F-4E7E-9F99-04AC84C2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distancing flag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B4BEE-D4B0-432B-A900-0635DCC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Autonomous rules are simple and inspectable.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67B77-4151-415B-B880-6F2700A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13131-CEB5-4633-8D7E-417FDFE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19400"/>
            <a:ext cx="47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3E18-A263-433B-9F4F-DFB45CF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susceptible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2884B-64D2-42FE-A565-8FE6815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A85EC-051D-4967-9C78-497C7598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47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8D163-572A-4349-AA22-CA7D2265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86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infected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ACDD9-57D3-4F79-A204-336CECE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5E5D4-B297-428B-93EB-4B6FD79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47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B87B4-E384-4B43-8C80-60BF108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86200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recovered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066E-E717-4E00-87A9-5F2E29AC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72A36-90B7-47D0-8DD6-88FE22F2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060F5-2D73-42A1-92A3-4D0B17B7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72000"/>
            <a:ext cx="481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31607-F814-4C99-85E6-8D1BAC9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38700"/>
            <a:ext cx="428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Mesa MultiGrid: agents can meet in the same cell without artificial borders.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6D17F2-C712-4B4F-A8B8-7AF07F52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C7B7F-5733-425F-B3E9-CC525984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15411356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6266F-619D-4588-9252-068A5E2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F987-EA40-4B97-BF7F-EB7735B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1B350-B728-4B1C-8ED6-4CF87CF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DECISION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5FF12-386B-4DC8-A825-FDBC900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70ABE-ED4C-4181-9630-06293FB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A simulation step turns choices into exposure.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8E0E7-1AB7-45D0-B23C-5CDAF8E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Movement, contact, infection, and recovery repeat for every time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A19EE-60AC-4E21-A2B4-3A57A7E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1526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F3607-25C8-40BE-97AB-0811275A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23F5B-4A9B-4F92-9A92-6B20F35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C0D32-FB3F-4801-A047-9B10073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C6328-3007-4E17-BB24-AEC3E36D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neighbor cell</a:t>
            </a:r>
          </a:p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or stay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3A801-ED27-4F33-8BB7-18FCB728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242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A409B-FC76-457D-B717-D8067FB5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6050"/>
            <a:ext cx="21526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CA790-18A0-4ABF-B65B-C6E97986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0B948-AF1B-49DB-9B57-DE0B491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813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A7DC7-B49B-4EC5-9E75-6D7D209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B66E-5691-4910-A690-D44B0E4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386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infected agents</a:t>
            </a:r>
          </a:p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may skip 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8182C-DE98-4B1D-A5D9-15C8B9DD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242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ADB7E-C70F-4752-A9A6-F3AF854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21526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A3379-7CF1-4EDA-9F84-5608FF4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24333-97B7-4D4C-8908-0A97B3F6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813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63307-5EBC-4C49-8B3D-0FECFBE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106C2-00DA-4538-AFC0-4ABB03C4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share one</a:t>
            </a:r>
          </a:p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cell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93F36-BFC2-4528-A337-49162DF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2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21132-6326-4A51-A031-E41FBBB6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1526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B952A-EAC9-417A-B024-A3BB819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FC7E3-35F9-4D44-947D-2A322D4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813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9E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85488-0955-4D21-B568-E7B2808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77576-CDC8-4A08-B7D7-BA0A4AA6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38600"/>
            <a:ext cx="1695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risk and</a:t>
            </a:r>
          </a:p>
          <a:p xmlns:a="http://schemas.openxmlformats.org/drawingml/2006/main">
            <a:pPr algn="l">
              <a:defRPr sz="15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0F965-FCBE-4236-ACA2-D16F9A7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816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15E3A4-0EFA-4577-B0BD-65567972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530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12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0212B"/>
                </a:solidFill>
                <a:latin typeface="Aptos Mono"/>
                <a:ea typeface="Aptos Mono"/>
                <a:cs typeface="Aptos Mono"/>
              </a:rPr>
              <a:t>Infection risk = 1 - (1 - p) ^ infected contacts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1ADB9-5E84-4BDD-AC05-31CECC62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0E975-F5E3-4FC5-A768-5C77217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1331760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FE2E5-6CD5-40E0-A01A-FF90FEAD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D91ED-515B-46E1-B532-328E34E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B44FB-7ADF-4E82-9978-6CEDEF2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AF608-49EF-4EF2-8321-27B3DDC9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1E45F-6B11-4135-ADC0-790E9440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Experiments vary behavior and disease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FDBD-EEC7-4E90-8C73-2887E21F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Mesa runs four scenarios, six seeded repeats each, with CSV outputs.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ADE21-7896-420E-B82F-FA87A6BD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77914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C9727-4E05-4275-B5FE-2DE0F7AF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023B4-9356-4FAC-B38A-6582BBE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Parameter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B2A37-7D56-498D-B85C-D525F92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0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F8D14-3222-4871-B471-B235C10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CEE7E-3744-4726-BE77-0578533A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B0DBB-5475-47C1-AA01-BA3823EF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0% distancing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64A9F-5D7F-481B-9A38-77E1BACC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1945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reference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697A5-5D4B-45AC-B432-524FD28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F0D3A-84B9-49A9-8ACE-12D1105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B32B9-2953-4062-B5B0-B6BFA78F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45% distancing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26414-E9A2-4478-9F06-2105983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100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behavior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C28DE-9C7A-4F87-A275-A3D3A419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F82D6-C309-4091-A4C2-EDBD3C6D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DC6B6-4946-4E38-BFD8-46B8C222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80% distancing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1763A-12EC-4510-A8C5-DB9CBCE1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0055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strong behavior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2F21C-3841-4E60-BBC2-93139CAC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6893A-E26E-4896-B109-24947A6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173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transmission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AC333-1FD1-4237-B635-38FA2F8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91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p = 0.34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23A02-33FF-4F47-8881-0CB616A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91100"/>
            <a:ext cx="2362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harder disease pressure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EE017-12D0-46E1-AFC9-9B1E22FB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2476500" cy="26098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69E13-C485-4254-87DF-7F82D318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F5D3CA-96C7-475B-8645-7722E77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0B0FD-7D29-42C8-9C5A-D1C9471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195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state counts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9C10F-54E9-4908-92B0-6F98D4FD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6A548-5696-4AC0-A7EB-8E1E344F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81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peak infected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5F0AC-8E21-4C34-8CAE-B3B77B6E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F7A828-C7F2-4ECC-A95C-A43A8BB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434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peak step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BAF12-B9B5-4692-B51A-A20F189A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00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AE2EC-E157-449C-B69A-5F029D0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053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attack rate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50F9D-7B38-4687-9A8D-7D26907E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04194D-125C-4747-A221-027FA35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2061793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DD4B72-6113-477E-984E-3701D5F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7DA5B-3C99-4BD8-B5D8-835695AB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E8071-EDAA-4F95-A939-7ED8EA09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720B2-D05F-42A7-81CF-06523DED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EC5DE-EC7A-4973-A02F-D5704214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Distancing flattens the simulated outbreak.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A7306-1BAA-4FCA-B89D-36EB32C1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Verified mean results from six seeded runs per scenario.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08AB4-23D1-4284-8483-3AA0A36A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E3CA8-92D6-4D7D-8062-656FAF17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555B3-7631-4538-A60B-81345E56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75.8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694A9-E465-4A8B-94A7-6A118198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baseline peak infected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2EE4F-21C3-46F3-8BE4-756EE26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83817-68AF-413E-9DC5-C79EAEA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F454C-027A-431C-91FC-4AAAABFD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241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27.2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A39E6-9477-4A04-BB3C-52B932B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99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high-distancing peak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B33EB-16BB-4448-8216-69FB90A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4541A-E2C6-4C1B-A295-98CB1682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F916-3EC9-4217-94AE-7F1D1D74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89.6%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37951-0D69-4CA2-A68A-448B1D4B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99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baseline attack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E744B-30A9-49E2-858F-CA8A5A8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2019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D6174-C4F5-40EE-86E3-6C1635B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2019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8A1E2-FDB6-41D9-8A77-7FE14793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241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45.6%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C52F9-91F1-4498-A275-723A7D3A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99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high-distancing attack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78866-CBCD-4725-B6D6-B871FB81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9906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0D3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F4079-BBE0-426A-B8BD-EAFDF679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83153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0165B-E6BF-4ED4-A1C9-84E83C2D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Baseline attack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A1FB36-A60F-43EE-8112-B64EC8D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14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89.6%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16974-C60B-4562-8D11-63B2D12D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99060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0D3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A8AA6-5A51-45B6-801C-E504131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42386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E00561-B557-400D-9248-B959D9F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2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25D"/>
                </a:solidFill>
                <a:latin typeface="Aptos"/>
                <a:ea typeface="Aptos"/>
                <a:cs typeface="Aptos"/>
              </a:rPr>
              <a:t>High-distancing attack 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335DB-D216-4240-8181-CA62E89A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72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45.6%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52DED-449B-43D4-9604-EDBA78AE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981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Experiment report adds the infection curves.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EF754-9BCD-4B44-B9AF-549A8B4A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BA096-7F79-4A23-B042-4875D520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Source: outputs/experiments/scenario_summary.csv</a:t>
            </a:r>
          </a:p>
        </p:txBody>
      </p:sp>
    </p:spTree>
    <p:extLst>
      <p:ext uri="{BB962C8B-B14F-4D97-AF65-F5344CB8AC3E}">
        <p14:creationId xmlns:p14="http://schemas.microsoft.com/office/powerpoint/2010/main" val="1945783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13A62-D5B9-4666-9376-5DCA3565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2B98D-550C-4874-9502-7242ABDC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19314-B526-44DC-AD6A-D267ACA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DEFENSE AND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6586E-4152-45F3-9F08-943994C1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8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A3C8A-0C5C-4210-A17E-D48AF37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81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212B"/>
                </a:solidFill>
                <a:latin typeface="Aptos Display"/>
                <a:ea typeface="Aptos Display"/>
                <a:cs typeface="Aptos Display"/>
              </a:rPr>
              <a:t>The model is explainable because its limits are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D8365-9227-4D98-A2FC-29D44708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Close with the live HTML demo and the experiment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548C8-7B3E-460E-B8C4-DADF12A5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28810-5307-4B1A-9D75-F1764AD3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5EC69-7C12-49B0-AEC8-FD4EE3D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Grid co-location abstracts real distance.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05C57-127F-48E1-97E8-6042BAEE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C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EF6E0-C421-42A9-9D93-F751BE0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Recovery time is fixed per agent.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9CAE5-4D4E-4370-B77B-5E5CAB0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C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36075-20B0-4483-92C4-D8F6C64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Parameters are illustrative.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43442-01A8-4FF0-8F2F-9CA3A4D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49530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19050">
            <a:solidFill>
              <a:srgbClr val="D5C6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925C6-D028-4AF7-B6D9-4C4DEB2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Demo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08155-762A-4C4F-9039-7ED98F5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363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1. Play simulation_demo.html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CA598-9013-4835-8113-5AF4B26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363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2. Show state counts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7D911-9CF2-4F4F-835D-C67EFA1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363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3. Open experiment_report.html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F0B75-FC3A-42F8-BF0C-84D0AA04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3638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4. Defend assumptions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97636-1929-4642-B542-6123D3F8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25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6825D"/>
                </a:solidFill>
                <a:latin typeface="Aptos"/>
                <a:ea typeface="Aptos"/>
                <a:cs typeface="Aptos"/>
              </a:rPr>
              <a:t>Conclusion: simple agent rules produce measurable collective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3BAF9-3CB7-43CD-8DE8-54F95EA3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6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09995-38FB-40BD-83A0-604664CA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8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870"/>
                </a:solidFill>
                <a:latin typeface="Aptos"/>
                <a:ea typeface="Aptos"/>
                <a:cs typeface="Aptos"/>
              </a:rPr>
              <a:t>Applied AI | ABM epidemic simulation</a:t>
            </a:r>
          </a:p>
        </p:txBody>
      </p:sp>
    </p:spTree>
    <p:extLst>
      <p:ext uri="{BB962C8B-B14F-4D97-AF65-F5344CB8AC3E}">
        <p14:creationId xmlns:p14="http://schemas.microsoft.com/office/powerpoint/2010/main" val="1913562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2026-05-23T19:58:30.1370000Z</dcterms:created>
  <dcterms:modified xsi:type="dcterms:W3CDTF">2026-05-23T19:58:30.1370000Z</dcterms:modified>
</coreProperties>
</file>